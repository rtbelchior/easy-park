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Neo Sans Bold" panose="020B0604020202020204" charset="0"/>
      <p:regular r:id="rId19"/>
    </p:embeddedFont>
    <p:embeddedFont>
      <p:font typeface="Poppins" panose="00000500000000000000" pitchFamily="2" charset="0"/>
      <p:regular r:id="rId20"/>
    </p:embeddedFont>
    <p:embeddedFont>
      <p:font typeface="Poppi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86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sv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833290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290" cy="1593725"/>
            </a:xfrm>
            <a:custGeom>
              <a:avLst/>
              <a:gdLst/>
              <a:ahLst/>
              <a:cxnLst/>
              <a:rect l="l" t="t" r="r" b="b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E0FF">
                    <a:alpha val="55000"/>
                  </a:srgbClr>
                </a:gs>
                <a:gs pos="100000">
                  <a:srgbClr val="1E53A0">
                    <a:alpha val="55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9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15255366" y="2293091"/>
            <a:ext cx="4114800" cy="680812"/>
          </a:xfrm>
          <a:custGeom>
            <a:avLst/>
            <a:gdLst/>
            <a:ahLst/>
            <a:cxnLst/>
            <a:rect l="l" t="t" r="r" b="b"/>
            <a:pathLst>
              <a:path w="4114800" h="680812">
                <a:moveTo>
                  <a:pt x="4114800" y="0"/>
                </a:moveTo>
                <a:lnTo>
                  <a:pt x="0" y="0"/>
                </a:lnTo>
                <a:lnTo>
                  <a:pt x="0" y="680813"/>
                </a:lnTo>
                <a:lnTo>
                  <a:pt x="4114800" y="680813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-548267" y="8082674"/>
            <a:ext cx="4114800" cy="680812"/>
          </a:xfrm>
          <a:custGeom>
            <a:avLst/>
            <a:gdLst/>
            <a:ahLst/>
            <a:cxnLst/>
            <a:rect l="l" t="t" r="r" b="b"/>
            <a:pathLst>
              <a:path w="4114800" h="680812">
                <a:moveTo>
                  <a:pt x="0" y="0"/>
                </a:moveTo>
                <a:lnTo>
                  <a:pt x="4114800" y="0"/>
                </a:lnTo>
                <a:lnTo>
                  <a:pt x="4114800" y="680812"/>
                </a:lnTo>
                <a:lnTo>
                  <a:pt x="0" y="68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TextBox 9"/>
          <p:cNvSpPr txBox="1"/>
          <p:nvPr/>
        </p:nvSpPr>
        <p:spPr>
          <a:xfrm>
            <a:off x="3032634" y="4926924"/>
            <a:ext cx="12222732" cy="206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79"/>
              </a:lnSpc>
            </a:pPr>
            <a:r>
              <a:rPr lang="en-US" sz="11899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EASY PARK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01250" y="6881666"/>
            <a:ext cx="10885500" cy="86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1"/>
              </a:lnSpc>
            </a:pPr>
            <a:r>
              <a:rPr lang="en-US" sz="4951" b="1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PROJETO WEB IOT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819036" y="9264565"/>
            <a:ext cx="880529" cy="594265"/>
            <a:chOff x="0" y="0"/>
            <a:chExt cx="1174038" cy="792354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174038" cy="792354"/>
              <a:chOff x="0" y="0"/>
              <a:chExt cx="221086" cy="14921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21086" cy="149210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0">
                    <a:moveTo>
                      <a:pt x="74605" y="0"/>
                    </a:moveTo>
                    <a:lnTo>
                      <a:pt x="146481" y="0"/>
                    </a:lnTo>
                    <a:cubicBezTo>
                      <a:pt x="187684" y="0"/>
                      <a:pt x="221086" y="33402"/>
                      <a:pt x="221086" y="74605"/>
                    </a:cubicBezTo>
                    <a:lnTo>
                      <a:pt x="221086" y="74605"/>
                    </a:lnTo>
                    <a:cubicBezTo>
                      <a:pt x="221086" y="115808"/>
                      <a:pt x="187684" y="149210"/>
                      <a:pt x="146481" y="149210"/>
                    </a:cubicBezTo>
                    <a:lnTo>
                      <a:pt x="74605" y="149210"/>
                    </a:lnTo>
                    <a:cubicBezTo>
                      <a:pt x="33402" y="149210"/>
                      <a:pt x="0" y="115808"/>
                      <a:pt x="0" y="74605"/>
                    </a:cubicBezTo>
                    <a:lnTo>
                      <a:pt x="0" y="74605"/>
                    </a:lnTo>
                    <a:cubicBezTo>
                      <a:pt x="0" y="33402"/>
                      <a:pt x="33402" y="0"/>
                      <a:pt x="74605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57150"/>
                <a:ext cx="221086" cy="2063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93622" y="128123"/>
              <a:ext cx="586795" cy="478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691734" y="468355"/>
            <a:ext cx="8904533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8" name="Freeform 18"/>
          <p:cNvSpPr/>
          <p:nvPr/>
        </p:nvSpPr>
        <p:spPr>
          <a:xfrm>
            <a:off x="7441806" y="1865617"/>
            <a:ext cx="3404389" cy="3002052"/>
          </a:xfrm>
          <a:custGeom>
            <a:avLst/>
            <a:gdLst/>
            <a:ahLst/>
            <a:cxnLst/>
            <a:rect l="l" t="t" r="r" b="b"/>
            <a:pathLst>
              <a:path w="3404389" h="3002052">
                <a:moveTo>
                  <a:pt x="0" y="0"/>
                </a:moveTo>
                <a:lnTo>
                  <a:pt x="3404388" y="0"/>
                </a:lnTo>
                <a:lnTo>
                  <a:pt x="3404388" y="3002052"/>
                </a:lnTo>
                <a:lnTo>
                  <a:pt x="0" y="30020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9" name="TextBox 19"/>
          <p:cNvSpPr txBox="1"/>
          <p:nvPr/>
        </p:nvSpPr>
        <p:spPr>
          <a:xfrm>
            <a:off x="5199613" y="9114155"/>
            <a:ext cx="8904533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Rodrigo Belchior, 2025159599 | Ricardo Almeida, 2025151617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Rodrigo Firinca, 2025131577 | Matheus Santana, 2025130281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1048331" y="4441081"/>
            <a:ext cx="5670262" cy="3541733"/>
          </a:xfrm>
          <a:custGeom>
            <a:avLst/>
            <a:gdLst/>
            <a:ahLst/>
            <a:cxnLst/>
            <a:rect l="l" t="t" r="r" b="b"/>
            <a:pathLst>
              <a:path w="5670262" h="3541733">
                <a:moveTo>
                  <a:pt x="0" y="0"/>
                </a:moveTo>
                <a:lnTo>
                  <a:pt x="5670262" y="0"/>
                </a:lnTo>
                <a:lnTo>
                  <a:pt x="5670262" y="3541733"/>
                </a:lnTo>
                <a:lnTo>
                  <a:pt x="0" y="35417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10"/>
          <p:cNvSpPr txBox="1"/>
          <p:nvPr/>
        </p:nvSpPr>
        <p:spPr>
          <a:xfrm>
            <a:off x="3575121" y="1595373"/>
            <a:ext cx="11137758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MOTIVAÇÃO / PROBLEMA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08383" y="4806693"/>
            <a:ext cx="6595482" cy="2743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parque escolar sofre com: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61337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controlo de acessos</a:t>
            </a:r>
          </a:p>
          <a:p>
            <a:pPr marL="561337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Estacionamento indevido</a:t>
            </a:r>
          </a:p>
          <a:p>
            <a:pPr marL="561337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Congestionamentos</a:t>
            </a:r>
          </a:p>
          <a:p>
            <a:pPr marL="561337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informação sobre lotação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2697593" y="5012361"/>
            <a:ext cx="2690700" cy="1495581"/>
          </a:xfrm>
          <a:custGeom>
            <a:avLst/>
            <a:gdLst/>
            <a:ahLst/>
            <a:cxnLst/>
            <a:rect l="l" t="t" r="r" b="b"/>
            <a:pathLst>
              <a:path w="2690700" h="1495581">
                <a:moveTo>
                  <a:pt x="0" y="0"/>
                </a:moveTo>
                <a:lnTo>
                  <a:pt x="2690700" y="0"/>
                </a:lnTo>
                <a:lnTo>
                  <a:pt x="2690700" y="1495581"/>
                </a:lnTo>
                <a:lnTo>
                  <a:pt x="0" y="1495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0" name="Group 10"/>
          <p:cNvGrpSpPr/>
          <p:nvPr/>
        </p:nvGrpSpPr>
        <p:grpSpPr>
          <a:xfrm>
            <a:off x="12497624" y="4163248"/>
            <a:ext cx="3734214" cy="3734214"/>
            <a:chOff x="0" y="0"/>
            <a:chExt cx="4978953" cy="49789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78953" cy="4978953"/>
            </a:xfrm>
            <a:custGeom>
              <a:avLst/>
              <a:gdLst/>
              <a:ahLst/>
              <a:cxnLst/>
              <a:rect l="l" t="t" r="r" b="b"/>
              <a:pathLst>
                <a:path w="4978953" h="4978953">
                  <a:moveTo>
                    <a:pt x="0" y="0"/>
                  </a:moveTo>
                  <a:lnTo>
                    <a:pt x="4978953" y="0"/>
                  </a:lnTo>
                  <a:lnTo>
                    <a:pt x="4978953" y="4978953"/>
                  </a:lnTo>
                  <a:lnTo>
                    <a:pt x="0" y="4978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3835389" y="1788093"/>
              <a:ext cx="1143563" cy="1068712"/>
            </a:xfrm>
            <a:custGeom>
              <a:avLst/>
              <a:gdLst/>
              <a:ahLst/>
              <a:cxnLst/>
              <a:rect l="l" t="t" r="r" b="b"/>
              <a:pathLst>
                <a:path w="1143563" h="1068712">
                  <a:moveTo>
                    <a:pt x="0" y="0"/>
                  </a:moveTo>
                  <a:lnTo>
                    <a:pt x="1143564" y="0"/>
                  </a:lnTo>
                  <a:lnTo>
                    <a:pt x="1143564" y="1068712"/>
                  </a:lnTo>
                  <a:lnTo>
                    <a:pt x="0" y="1068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99579" y="4374175"/>
            <a:ext cx="9177004" cy="411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Implementar um sistema de controlo automático com cartões NFC;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Bloquear o acesso quando o parque estiver cheio;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Registar entradas e saídas (data/hora);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Disponibilizar informações num portal web em tempo real;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Permitir à administração gerir permissões e consultar histórico.</a:t>
            </a:r>
          </a:p>
          <a:p>
            <a:pPr algn="just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15847" y="649837"/>
            <a:ext cx="9056307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OBJETIVOS DO PROJETO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5847" y="649837"/>
            <a:ext cx="9056307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ARQUITETURA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467195" y="3134803"/>
            <a:ext cx="4276042" cy="5411861"/>
            <a:chOff x="0" y="0"/>
            <a:chExt cx="1062922" cy="13452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2922" cy="1345260"/>
            </a:xfrm>
            <a:custGeom>
              <a:avLst/>
              <a:gdLst/>
              <a:ahLst/>
              <a:cxnLst/>
              <a:rect l="l" t="t" r="r" b="b"/>
              <a:pathLst>
                <a:path w="1062922" h="1345260">
                  <a:moveTo>
                    <a:pt x="0" y="0"/>
                  </a:moveTo>
                  <a:lnTo>
                    <a:pt x="1062922" y="0"/>
                  </a:lnTo>
                  <a:lnTo>
                    <a:pt x="1062922" y="1345260"/>
                  </a:lnTo>
                  <a:lnTo>
                    <a:pt x="0" y="1345260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62922" cy="1383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362362" y="3134803"/>
            <a:ext cx="4086127" cy="5411861"/>
            <a:chOff x="0" y="0"/>
            <a:chExt cx="1015714" cy="13452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5714" cy="1345260"/>
            </a:xfrm>
            <a:custGeom>
              <a:avLst/>
              <a:gdLst/>
              <a:ahLst/>
              <a:cxnLst/>
              <a:rect l="l" t="t" r="r" b="b"/>
              <a:pathLst>
                <a:path w="1015714" h="1345260">
                  <a:moveTo>
                    <a:pt x="0" y="0"/>
                  </a:moveTo>
                  <a:lnTo>
                    <a:pt x="1015714" y="0"/>
                  </a:lnTo>
                  <a:lnTo>
                    <a:pt x="1015714" y="1345260"/>
                  </a:lnTo>
                  <a:lnTo>
                    <a:pt x="0" y="1345260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15714" cy="1383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77114" y="3134803"/>
            <a:ext cx="3943690" cy="5411861"/>
            <a:chOff x="0" y="0"/>
            <a:chExt cx="980307" cy="13452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0307" cy="1345260"/>
            </a:xfrm>
            <a:custGeom>
              <a:avLst/>
              <a:gdLst/>
              <a:ahLst/>
              <a:cxnLst/>
              <a:rect l="l" t="t" r="r" b="b"/>
              <a:pathLst>
                <a:path w="980307" h="1345260">
                  <a:moveTo>
                    <a:pt x="0" y="0"/>
                  </a:moveTo>
                  <a:lnTo>
                    <a:pt x="980307" y="0"/>
                  </a:lnTo>
                  <a:lnTo>
                    <a:pt x="980307" y="1345260"/>
                  </a:lnTo>
                  <a:lnTo>
                    <a:pt x="0" y="1345260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80307" cy="1383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609890" y="4050718"/>
            <a:ext cx="4133347" cy="434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ESP32 controla o sistema no parque;</a:t>
            </a:r>
          </a:p>
          <a:p>
            <a:pPr algn="l">
              <a:lnSpc>
                <a:spcPts val="684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Leitor de cartões identifica o utilizador;</a:t>
            </a:r>
          </a:p>
          <a:p>
            <a:pPr algn="l">
              <a:lnSpc>
                <a:spcPts val="684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Servo abre/fecha a cancela;</a:t>
            </a:r>
          </a:p>
          <a:p>
            <a:pPr algn="l">
              <a:lnSpc>
                <a:spcPts val="684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Sensor ultrassónico confirma a passagem do veículo;</a:t>
            </a:r>
          </a:p>
          <a:p>
            <a:pPr algn="l">
              <a:lnSpc>
                <a:spcPts val="684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Comunicação com servidor via Wi-Fi (HTTP).</a:t>
            </a:r>
          </a:p>
          <a:p>
            <a:pPr algn="l">
              <a:lnSpc>
                <a:spcPts val="3191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043724" y="3492062"/>
            <a:ext cx="3122984" cy="36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Camada IoT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76236" y="4240163"/>
            <a:ext cx="3471162" cy="356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em PHP;</a:t>
            </a:r>
          </a:p>
          <a:p>
            <a:pPr algn="l">
              <a:lnSpc>
                <a:spcPts val="1025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Validação do cartão e permissões;</a:t>
            </a:r>
          </a:p>
          <a:p>
            <a:pPr algn="l">
              <a:lnSpc>
                <a:spcPts val="1025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Cálculo da lotação atual;</a:t>
            </a:r>
          </a:p>
          <a:p>
            <a:pPr algn="l">
              <a:lnSpc>
                <a:spcPts val="1025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Registo de entradas e saídas na base de dados MySQL;</a:t>
            </a:r>
          </a:p>
          <a:p>
            <a:pPr algn="l">
              <a:lnSpc>
                <a:spcPts val="3191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891413" y="3492062"/>
            <a:ext cx="3122984" cy="36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Camada Servidor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70494" y="4525036"/>
            <a:ext cx="3428917" cy="308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HTML, CSS, JavaScript;</a:t>
            </a:r>
          </a:p>
          <a:p>
            <a:pPr algn="l">
              <a:lnSpc>
                <a:spcPts val="1196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Área do utilizador e do administrador;</a:t>
            </a:r>
          </a:p>
          <a:p>
            <a:pPr algn="l">
              <a:lnSpc>
                <a:spcPts val="1196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02970" lvl="1" indent="-201485" algn="l">
              <a:lnSpc>
                <a:spcPts val="3191"/>
              </a:lnSpc>
              <a:buFont typeface="Arial"/>
              <a:buChar char="•"/>
            </a:pPr>
            <a:r>
              <a:rPr lang="en-US" sz="18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Página de administração com lotação e acessos em tempo real.</a:t>
            </a:r>
          </a:p>
          <a:p>
            <a:pPr algn="l">
              <a:lnSpc>
                <a:spcPts val="3191"/>
              </a:lnSpc>
            </a:pPr>
            <a:endParaRPr lang="en-US" sz="18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223460" y="3492062"/>
            <a:ext cx="3122984" cy="36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Interface Web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2642510" y="5565742"/>
            <a:ext cx="1074166" cy="1516470"/>
          </a:xfrm>
          <a:custGeom>
            <a:avLst/>
            <a:gdLst/>
            <a:ahLst/>
            <a:cxnLst/>
            <a:rect l="l" t="t" r="r" b="b"/>
            <a:pathLst>
              <a:path w="1074166" h="1516470">
                <a:moveTo>
                  <a:pt x="0" y="0"/>
                </a:moveTo>
                <a:lnTo>
                  <a:pt x="1074166" y="0"/>
                </a:lnTo>
                <a:lnTo>
                  <a:pt x="1074166" y="1516470"/>
                </a:lnTo>
                <a:lnTo>
                  <a:pt x="0" y="1516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4592194" y="4035419"/>
            <a:ext cx="1530323" cy="1530323"/>
          </a:xfrm>
          <a:custGeom>
            <a:avLst/>
            <a:gdLst/>
            <a:ahLst/>
            <a:cxnLst/>
            <a:rect l="l" t="t" r="r" b="b"/>
            <a:pathLst>
              <a:path w="1530323" h="1530323">
                <a:moveTo>
                  <a:pt x="0" y="0"/>
                </a:moveTo>
                <a:lnTo>
                  <a:pt x="1530323" y="0"/>
                </a:lnTo>
                <a:lnTo>
                  <a:pt x="1530323" y="1530323"/>
                </a:lnTo>
                <a:lnTo>
                  <a:pt x="0" y="15303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>
          <a:xfrm>
            <a:off x="14557261" y="7082212"/>
            <a:ext cx="1565256" cy="1530323"/>
          </a:xfrm>
          <a:custGeom>
            <a:avLst/>
            <a:gdLst/>
            <a:ahLst/>
            <a:cxnLst/>
            <a:rect l="l" t="t" r="r" b="b"/>
            <a:pathLst>
              <a:path w="1565256" h="1530323">
                <a:moveTo>
                  <a:pt x="0" y="0"/>
                </a:moveTo>
                <a:lnTo>
                  <a:pt x="1565256" y="0"/>
                </a:lnTo>
                <a:lnTo>
                  <a:pt x="1565256" y="1530322"/>
                </a:lnTo>
                <a:lnTo>
                  <a:pt x="0" y="1530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6399" r="-37410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Box 12"/>
          <p:cNvSpPr txBox="1"/>
          <p:nvPr/>
        </p:nvSpPr>
        <p:spPr>
          <a:xfrm>
            <a:off x="4555498" y="3753726"/>
            <a:ext cx="917700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Front-end (Interface Web)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53790" y="651235"/>
            <a:ext cx="8980420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TECNOLOGIAS UTILIZADAS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90149" y="5624277"/>
            <a:ext cx="6264969" cy="182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HTML5 – estrutura das páginas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CSS3 – layout e design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JavaScript – lógica no browser</a:t>
            </a:r>
          </a:p>
          <a:p>
            <a:pPr algn="just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3841643" y="4718100"/>
            <a:ext cx="2413557" cy="1303524"/>
          </a:xfrm>
          <a:custGeom>
            <a:avLst/>
            <a:gdLst/>
            <a:ahLst/>
            <a:cxnLst/>
            <a:rect l="l" t="t" r="r" b="b"/>
            <a:pathLst>
              <a:path w="2413557" h="1303524">
                <a:moveTo>
                  <a:pt x="0" y="0"/>
                </a:moveTo>
                <a:lnTo>
                  <a:pt x="2413557" y="0"/>
                </a:lnTo>
                <a:lnTo>
                  <a:pt x="2413557" y="1303524"/>
                </a:lnTo>
                <a:lnTo>
                  <a:pt x="0" y="1303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3547430" y="6788317"/>
            <a:ext cx="3001984" cy="1579794"/>
          </a:xfrm>
          <a:custGeom>
            <a:avLst/>
            <a:gdLst/>
            <a:ahLst/>
            <a:cxnLst/>
            <a:rect l="l" t="t" r="r" b="b"/>
            <a:pathLst>
              <a:path w="3001984" h="1579794">
                <a:moveTo>
                  <a:pt x="0" y="0"/>
                </a:moveTo>
                <a:lnTo>
                  <a:pt x="3001984" y="0"/>
                </a:lnTo>
                <a:lnTo>
                  <a:pt x="3001984" y="1579795"/>
                </a:lnTo>
                <a:lnTo>
                  <a:pt x="0" y="1579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4555498" y="3753726"/>
            <a:ext cx="917700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Back-end (Servidor / API)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53790" y="651235"/>
            <a:ext cx="8980420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TECNOLOGIAS UTILIZADAS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90149" y="5624277"/>
            <a:ext cx="6945499" cy="2743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PHP – processamento dos pedidos, regras de negócio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MySQL – armazenamento de utilizadores, cartões, acessos e parque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07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12173947" y="4190241"/>
            <a:ext cx="2455529" cy="1753950"/>
          </a:xfrm>
          <a:custGeom>
            <a:avLst/>
            <a:gdLst/>
            <a:ahLst/>
            <a:cxnLst/>
            <a:rect l="l" t="t" r="r" b="b"/>
            <a:pathLst>
              <a:path w="2455529" h="1753950">
                <a:moveTo>
                  <a:pt x="0" y="0"/>
                </a:moveTo>
                <a:lnTo>
                  <a:pt x="2455529" y="0"/>
                </a:lnTo>
                <a:lnTo>
                  <a:pt x="2455529" y="1753950"/>
                </a:lnTo>
                <a:lnTo>
                  <a:pt x="0" y="1753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0390590" y="6294981"/>
            <a:ext cx="1880368" cy="1507616"/>
          </a:xfrm>
          <a:custGeom>
            <a:avLst/>
            <a:gdLst/>
            <a:ahLst/>
            <a:cxnLst/>
            <a:rect l="l" t="t" r="r" b="b"/>
            <a:pathLst>
              <a:path w="1880368" h="1507616">
                <a:moveTo>
                  <a:pt x="0" y="0"/>
                </a:moveTo>
                <a:lnTo>
                  <a:pt x="1880368" y="0"/>
                </a:lnTo>
                <a:lnTo>
                  <a:pt x="1880368" y="1507616"/>
                </a:lnTo>
                <a:lnTo>
                  <a:pt x="0" y="1507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77" t="-3321" r="-5554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>
          <a:xfrm>
            <a:off x="15421798" y="5676308"/>
            <a:ext cx="2066865" cy="1560483"/>
          </a:xfrm>
          <a:custGeom>
            <a:avLst/>
            <a:gdLst/>
            <a:ahLst/>
            <a:cxnLst/>
            <a:rect l="l" t="t" r="r" b="b"/>
            <a:pathLst>
              <a:path w="2066865" h="1560483">
                <a:moveTo>
                  <a:pt x="0" y="0"/>
                </a:moveTo>
                <a:lnTo>
                  <a:pt x="2066865" y="0"/>
                </a:lnTo>
                <a:lnTo>
                  <a:pt x="2066865" y="1560483"/>
                </a:lnTo>
                <a:lnTo>
                  <a:pt x="0" y="15604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>
            <a:off x="13401224" y="7658776"/>
            <a:ext cx="2590535" cy="1165741"/>
          </a:xfrm>
          <a:custGeom>
            <a:avLst/>
            <a:gdLst/>
            <a:ahLst/>
            <a:cxnLst/>
            <a:rect l="l" t="t" r="r" b="b"/>
            <a:pathLst>
              <a:path w="2590535" h="1165741">
                <a:moveTo>
                  <a:pt x="0" y="0"/>
                </a:moveTo>
                <a:lnTo>
                  <a:pt x="2590535" y="0"/>
                </a:lnTo>
                <a:lnTo>
                  <a:pt x="2590535" y="1165741"/>
                </a:lnTo>
                <a:lnTo>
                  <a:pt x="0" y="11657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Freeform 13"/>
          <p:cNvSpPr/>
          <p:nvPr/>
        </p:nvSpPr>
        <p:spPr>
          <a:xfrm>
            <a:off x="1466701" y="2842352"/>
            <a:ext cx="1682868" cy="997099"/>
          </a:xfrm>
          <a:custGeom>
            <a:avLst/>
            <a:gdLst/>
            <a:ahLst/>
            <a:cxnLst/>
            <a:rect l="l" t="t" r="r" b="b"/>
            <a:pathLst>
              <a:path w="1682868" h="997099">
                <a:moveTo>
                  <a:pt x="0" y="0"/>
                </a:moveTo>
                <a:lnTo>
                  <a:pt x="1682868" y="0"/>
                </a:lnTo>
                <a:lnTo>
                  <a:pt x="1682868" y="997099"/>
                </a:lnTo>
                <a:lnTo>
                  <a:pt x="0" y="9970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4" name="Freeform 14"/>
          <p:cNvSpPr/>
          <p:nvPr/>
        </p:nvSpPr>
        <p:spPr>
          <a:xfrm>
            <a:off x="14809591" y="2652851"/>
            <a:ext cx="2525437" cy="2617033"/>
          </a:xfrm>
          <a:custGeom>
            <a:avLst/>
            <a:gdLst/>
            <a:ahLst/>
            <a:cxnLst/>
            <a:rect l="l" t="t" r="r" b="b"/>
            <a:pathLst>
              <a:path w="2525437" h="2617033">
                <a:moveTo>
                  <a:pt x="0" y="0"/>
                </a:moveTo>
                <a:lnTo>
                  <a:pt x="2525437" y="0"/>
                </a:lnTo>
                <a:lnTo>
                  <a:pt x="2525437" y="2617033"/>
                </a:lnTo>
                <a:lnTo>
                  <a:pt x="0" y="26170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TextBox 15"/>
          <p:cNvSpPr txBox="1"/>
          <p:nvPr/>
        </p:nvSpPr>
        <p:spPr>
          <a:xfrm>
            <a:off x="4555498" y="3753726"/>
            <a:ext cx="917700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IoT / Hardware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53790" y="651235"/>
            <a:ext cx="8980420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TECNOLOGIAS UTILIZADAS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8383" y="4925862"/>
            <a:ext cx="7451940" cy="365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ESP32 – microcontrolador principal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Leitor RFID RC522 – leitura de cartões NFC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Servo Motor – abertura da cancela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Sensor Ultrassónico HC-SR04 – detetar passagem do veículo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LCD I2C 16x2 – mensagens ao utilizador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Wi-Fi – comunicação com o servidor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8383" y="3524006"/>
            <a:ext cx="4117779" cy="5016205"/>
            <a:chOff x="0" y="0"/>
            <a:chExt cx="1023582" cy="12469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3582" cy="1246909"/>
            </a:xfrm>
            <a:custGeom>
              <a:avLst/>
              <a:gdLst/>
              <a:ahLst/>
              <a:cxnLst/>
              <a:rect l="l" t="t" r="r" b="b"/>
              <a:pathLst>
                <a:path w="1023582" h="1246909">
                  <a:moveTo>
                    <a:pt x="0" y="0"/>
                  </a:moveTo>
                  <a:lnTo>
                    <a:pt x="1023582" y="0"/>
                  </a:lnTo>
                  <a:lnTo>
                    <a:pt x="1023582" y="1246909"/>
                  </a:lnTo>
                  <a:lnTo>
                    <a:pt x="0" y="1246909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23582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386494" y="3524006"/>
            <a:ext cx="6600269" cy="5016205"/>
          </a:xfrm>
          <a:custGeom>
            <a:avLst/>
            <a:gdLst/>
            <a:ahLst/>
            <a:cxnLst/>
            <a:rect l="l" t="t" r="r" b="b"/>
            <a:pathLst>
              <a:path w="6600269" h="5016205">
                <a:moveTo>
                  <a:pt x="0" y="0"/>
                </a:moveTo>
                <a:lnTo>
                  <a:pt x="6600270" y="0"/>
                </a:lnTo>
                <a:lnTo>
                  <a:pt x="6600270" y="5016205"/>
                </a:lnTo>
                <a:lnTo>
                  <a:pt x="0" y="5016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4615847" y="649837"/>
            <a:ext cx="9056307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FUNCIONALIDADES PRINCIPAIS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87622" y="4857232"/>
            <a:ext cx="3685287" cy="257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4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Login com email institucional IPS;</a:t>
            </a:r>
          </a:p>
          <a:p>
            <a:pPr algn="l">
              <a:lnSpc>
                <a:spcPts val="98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4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Perfis diferentes: utilizador e administrador;</a:t>
            </a:r>
          </a:p>
          <a:p>
            <a:pPr algn="l">
              <a:lnSpc>
                <a:spcPts val="98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4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Controlo de sessão e proteção de páginas.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040877" y="3793657"/>
            <a:ext cx="3578775" cy="67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Acesso e Autenticação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09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8383" y="3524006"/>
            <a:ext cx="4123101" cy="5016205"/>
            <a:chOff x="0" y="0"/>
            <a:chExt cx="1024905" cy="12469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4904" cy="1246909"/>
            </a:xfrm>
            <a:custGeom>
              <a:avLst/>
              <a:gdLst/>
              <a:ahLst/>
              <a:cxnLst/>
              <a:rect l="l" t="t" r="r" b="b"/>
              <a:pathLst>
                <a:path w="1024904" h="1246909">
                  <a:moveTo>
                    <a:pt x="0" y="0"/>
                  </a:moveTo>
                  <a:lnTo>
                    <a:pt x="1024904" y="0"/>
                  </a:lnTo>
                  <a:lnTo>
                    <a:pt x="1024904" y="1246909"/>
                  </a:lnTo>
                  <a:lnTo>
                    <a:pt x="0" y="1246909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24905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001936" y="3524006"/>
            <a:ext cx="6154852" cy="5016205"/>
          </a:xfrm>
          <a:custGeom>
            <a:avLst/>
            <a:gdLst/>
            <a:ahLst/>
            <a:cxnLst/>
            <a:rect l="l" t="t" r="r" b="b"/>
            <a:pathLst>
              <a:path w="6154852" h="5016205">
                <a:moveTo>
                  <a:pt x="0" y="0"/>
                </a:moveTo>
                <a:lnTo>
                  <a:pt x="6154852" y="0"/>
                </a:lnTo>
                <a:lnTo>
                  <a:pt x="6154852" y="5016205"/>
                </a:lnTo>
                <a:lnTo>
                  <a:pt x="0" y="5016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1919167" y="4857232"/>
            <a:ext cx="3891029" cy="3031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Consultar dados pessoais;</a:t>
            </a:r>
          </a:p>
          <a:p>
            <a:pPr algn="l">
              <a:lnSpc>
                <a:spcPts val="979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Gerir veículos (adicionar / remover);</a:t>
            </a:r>
          </a:p>
          <a:p>
            <a:pPr algn="l">
              <a:lnSpc>
                <a:spcPts val="979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Submeter sugestões / avaliação;</a:t>
            </a:r>
          </a:p>
          <a:p>
            <a:pPr algn="l">
              <a:lnSpc>
                <a:spcPts val="979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 histórico de entradas e saídas.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15847" y="649837"/>
            <a:ext cx="9056307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FUNCIONALIDADES PRINCIPAIS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74408" y="3793657"/>
            <a:ext cx="3122984" cy="67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Utilizador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8383" y="3524006"/>
            <a:ext cx="4117779" cy="5016205"/>
            <a:chOff x="0" y="0"/>
            <a:chExt cx="1023582" cy="12469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3582" cy="1246909"/>
            </a:xfrm>
            <a:custGeom>
              <a:avLst/>
              <a:gdLst/>
              <a:ahLst/>
              <a:cxnLst/>
              <a:rect l="l" t="t" r="r" b="b"/>
              <a:pathLst>
                <a:path w="1023582" h="1246909">
                  <a:moveTo>
                    <a:pt x="0" y="0"/>
                  </a:moveTo>
                  <a:lnTo>
                    <a:pt x="1023582" y="0"/>
                  </a:lnTo>
                  <a:lnTo>
                    <a:pt x="1023582" y="1246909"/>
                  </a:lnTo>
                  <a:lnTo>
                    <a:pt x="0" y="1246909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23582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479711" y="3327789"/>
            <a:ext cx="3853280" cy="1801681"/>
          </a:xfrm>
          <a:custGeom>
            <a:avLst/>
            <a:gdLst/>
            <a:ahLst/>
            <a:cxnLst/>
            <a:rect l="l" t="t" r="r" b="b"/>
            <a:pathLst>
              <a:path w="3853280" h="1801681">
                <a:moveTo>
                  <a:pt x="0" y="0"/>
                </a:moveTo>
                <a:lnTo>
                  <a:pt x="3853280" y="0"/>
                </a:lnTo>
                <a:lnTo>
                  <a:pt x="3853280" y="1801681"/>
                </a:lnTo>
                <a:lnTo>
                  <a:pt x="0" y="1801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172" t="-39777" r="-3232" b="-34107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Freeform 13"/>
          <p:cNvSpPr/>
          <p:nvPr/>
        </p:nvSpPr>
        <p:spPr>
          <a:xfrm>
            <a:off x="11479711" y="6886196"/>
            <a:ext cx="3853280" cy="1850232"/>
          </a:xfrm>
          <a:custGeom>
            <a:avLst/>
            <a:gdLst/>
            <a:ahLst/>
            <a:cxnLst/>
            <a:rect l="l" t="t" r="r" b="b"/>
            <a:pathLst>
              <a:path w="3853280" h="1850232">
                <a:moveTo>
                  <a:pt x="0" y="0"/>
                </a:moveTo>
                <a:lnTo>
                  <a:pt x="3853280" y="0"/>
                </a:lnTo>
                <a:lnTo>
                  <a:pt x="3853280" y="1850232"/>
                </a:lnTo>
                <a:lnTo>
                  <a:pt x="0" y="1850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10" t="-30743" r="-3988" b="-39819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4" name="Freeform 14"/>
          <p:cNvSpPr/>
          <p:nvPr/>
        </p:nvSpPr>
        <p:spPr>
          <a:xfrm>
            <a:off x="11479711" y="5129470"/>
            <a:ext cx="3853280" cy="1756726"/>
          </a:xfrm>
          <a:custGeom>
            <a:avLst/>
            <a:gdLst/>
            <a:ahLst/>
            <a:cxnLst/>
            <a:rect l="l" t="t" r="r" b="b"/>
            <a:pathLst>
              <a:path w="3853280" h="1756726">
                <a:moveTo>
                  <a:pt x="0" y="0"/>
                </a:moveTo>
                <a:lnTo>
                  <a:pt x="3853280" y="0"/>
                </a:lnTo>
                <a:lnTo>
                  <a:pt x="3853280" y="1756726"/>
                </a:lnTo>
                <a:lnTo>
                  <a:pt x="0" y="17567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393" t="-37791" r="-7640" b="-48157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TextBox 15"/>
          <p:cNvSpPr txBox="1"/>
          <p:nvPr/>
        </p:nvSpPr>
        <p:spPr>
          <a:xfrm>
            <a:off x="4615847" y="649837"/>
            <a:ext cx="9056307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FUNCIONALIDADES PRINCIPAIS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19253" y="4857232"/>
            <a:ext cx="3701113" cy="369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Leitura RFID, validação e abertura da cancela;</a:t>
            </a:r>
          </a:p>
          <a:p>
            <a:pPr algn="l">
              <a:lnSpc>
                <a:spcPts val="979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Mensagens personalizadas no LCD;</a:t>
            </a:r>
          </a:p>
          <a:p>
            <a:pPr algn="l">
              <a:lnSpc>
                <a:spcPts val="979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Registo automático de entrada/saída na base de dados;</a:t>
            </a:r>
          </a:p>
          <a:p>
            <a:pPr algn="l">
              <a:lnSpc>
                <a:spcPts val="979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Controlo de lotação do parque em tempo real.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308317" y="3793657"/>
            <a:ext cx="3122984" cy="67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Funcionalidades IoT no Sistema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8383" y="3524006"/>
            <a:ext cx="3943690" cy="5016205"/>
            <a:chOff x="0" y="0"/>
            <a:chExt cx="980307" cy="12469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0307" cy="1246909"/>
            </a:xfrm>
            <a:custGeom>
              <a:avLst/>
              <a:gdLst/>
              <a:ahLst/>
              <a:cxnLst/>
              <a:rect l="l" t="t" r="r" b="b"/>
              <a:pathLst>
                <a:path w="980307" h="1246909">
                  <a:moveTo>
                    <a:pt x="0" y="0"/>
                  </a:moveTo>
                  <a:lnTo>
                    <a:pt x="980307" y="0"/>
                  </a:lnTo>
                  <a:lnTo>
                    <a:pt x="980307" y="1246909"/>
                  </a:lnTo>
                  <a:lnTo>
                    <a:pt x="0" y="1246909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0307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434112" y="3524006"/>
            <a:ext cx="9646547" cy="5016205"/>
          </a:xfrm>
          <a:custGeom>
            <a:avLst/>
            <a:gdLst/>
            <a:ahLst/>
            <a:cxnLst/>
            <a:rect l="l" t="t" r="r" b="b"/>
            <a:pathLst>
              <a:path w="9646547" h="5016205">
                <a:moveTo>
                  <a:pt x="0" y="0"/>
                </a:moveTo>
                <a:lnTo>
                  <a:pt x="9646548" y="0"/>
                </a:lnTo>
                <a:lnTo>
                  <a:pt x="9646548" y="5016205"/>
                </a:lnTo>
                <a:lnTo>
                  <a:pt x="0" y="5016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4615847" y="649837"/>
            <a:ext cx="9056307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FUNCIONALIDADES PRINCIPAIS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97167" y="4857232"/>
            <a:ext cx="3792096" cy="3150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utilizadores;</a:t>
            </a:r>
          </a:p>
          <a:p>
            <a:pPr algn="l">
              <a:lnSpc>
                <a:spcPts val="979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cartões;</a:t>
            </a:r>
          </a:p>
          <a:p>
            <a:pPr algn="l">
              <a:lnSpc>
                <a:spcPts val="979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parques;</a:t>
            </a:r>
          </a:p>
          <a:p>
            <a:pPr algn="l">
              <a:lnSpc>
                <a:spcPts val="979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Consulta avançada de acessos com filtros;</a:t>
            </a:r>
          </a:p>
          <a:p>
            <a:pPr algn="l">
              <a:lnSpc>
                <a:spcPts val="979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Estatísticas: movimento diário e mensal;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231723" y="3793657"/>
            <a:ext cx="3122984" cy="67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BackOffice do Administrador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12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4368619" y="3667105"/>
            <a:ext cx="9550762" cy="5157412"/>
          </a:xfrm>
          <a:custGeom>
            <a:avLst/>
            <a:gdLst/>
            <a:ahLst/>
            <a:cxnLst/>
            <a:rect l="l" t="t" r="r" b="b"/>
            <a:pathLst>
              <a:path w="9550762" h="5157412">
                <a:moveTo>
                  <a:pt x="0" y="0"/>
                </a:moveTo>
                <a:lnTo>
                  <a:pt x="9550762" y="0"/>
                </a:lnTo>
                <a:lnTo>
                  <a:pt x="9550762" y="5157412"/>
                </a:lnTo>
                <a:lnTo>
                  <a:pt x="0" y="51574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10"/>
          <p:cNvSpPr txBox="1"/>
          <p:nvPr/>
        </p:nvSpPr>
        <p:spPr>
          <a:xfrm>
            <a:off x="4615847" y="649837"/>
            <a:ext cx="9056307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MODELO ENTIDADE-RELAÇÃO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13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9144000" y="6918912"/>
            <a:ext cx="7389357" cy="1905604"/>
          </a:xfrm>
          <a:custGeom>
            <a:avLst/>
            <a:gdLst/>
            <a:ahLst/>
            <a:cxnLst/>
            <a:rect l="l" t="t" r="r" b="b"/>
            <a:pathLst>
              <a:path w="7389357" h="1905604">
                <a:moveTo>
                  <a:pt x="0" y="0"/>
                </a:moveTo>
                <a:lnTo>
                  <a:pt x="7389357" y="0"/>
                </a:lnTo>
                <a:lnTo>
                  <a:pt x="7389357" y="1905605"/>
                </a:lnTo>
                <a:lnTo>
                  <a:pt x="0" y="1905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10"/>
          <p:cNvSpPr txBox="1"/>
          <p:nvPr/>
        </p:nvSpPr>
        <p:spPr>
          <a:xfrm>
            <a:off x="4478257" y="651235"/>
            <a:ext cx="9768489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PARTES RELEVANTES DO CÓDIGO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433263"/>
            <a:ext cx="9177004" cy="22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Comunicação com o servidor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 com "application/x-www-form-urlencoded"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Resposta tratada em texto: OK|entrada|nome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Alteração das mensagens no LCD em tempo real</a:t>
            </a:r>
          </a:p>
          <a:p>
            <a:pPr algn="just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515011" y="3559260"/>
            <a:ext cx="3257978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Lado IoT (ESP32)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14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5275967" y="7082926"/>
            <a:ext cx="7736067" cy="734926"/>
          </a:xfrm>
          <a:custGeom>
            <a:avLst/>
            <a:gdLst/>
            <a:ahLst/>
            <a:cxnLst/>
            <a:rect l="l" t="t" r="r" b="b"/>
            <a:pathLst>
              <a:path w="7736067" h="734926">
                <a:moveTo>
                  <a:pt x="0" y="0"/>
                </a:moveTo>
                <a:lnTo>
                  <a:pt x="7736066" y="0"/>
                </a:lnTo>
                <a:lnTo>
                  <a:pt x="7736066" y="734926"/>
                </a:lnTo>
                <a:lnTo>
                  <a:pt x="0" y="734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10"/>
          <p:cNvSpPr txBox="1"/>
          <p:nvPr/>
        </p:nvSpPr>
        <p:spPr>
          <a:xfrm>
            <a:off x="4478257" y="651235"/>
            <a:ext cx="9768489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PARTES RELEVANTES DO CÓDIGO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2765" y="4768975"/>
            <a:ext cx="10567255" cy="119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Receção dos dados do ESP32</a:t>
            </a:r>
          </a:p>
          <a:p>
            <a:pPr marL="496572" lvl="1" indent="-248286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Suporte a POST e GET para maior compatibilidade</a:t>
            </a:r>
          </a:p>
          <a:p>
            <a:pPr marL="496572" lvl="1" indent="-248286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Converte valores ausentes para null ou valores padrão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05901" y="3456375"/>
            <a:ext cx="2876198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Lado do Site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15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976256" y="6543284"/>
            <a:ext cx="6951504" cy="1239927"/>
          </a:xfrm>
          <a:custGeom>
            <a:avLst/>
            <a:gdLst/>
            <a:ahLst/>
            <a:cxnLst/>
            <a:rect l="l" t="t" r="r" b="b"/>
            <a:pathLst>
              <a:path w="6951504" h="1239927">
                <a:moveTo>
                  <a:pt x="0" y="0"/>
                </a:moveTo>
                <a:lnTo>
                  <a:pt x="6951504" y="0"/>
                </a:lnTo>
                <a:lnTo>
                  <a:pt x="6951504" y="1239927"/>
                </a:lnTo>
                <a:lnTo>
                  <a:pt x="0" y="1239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467197" y="7783211"/>
            <a:ext cx="7969621" cy="873383"/>
          </a:xfrm>
          <a:custGeom>
            <a:avLst/>
            <a:gdLst/>
            <a:ahLst/>
            <a:cxnLst/>
            <a:rect l="l" t="t" r="r" b="b"/>
            <a:pathLst>
              <a:path w="7969621" h="873383">
                <a:moveTo>
                  <a:pt x="0" y="0"/>
                </a:moveTo>
                <a:lnTo>
                  <a:pt x="7969622" y="0"/>
                </a:lnTo>
                <a:lnTo>
                  <a:pt x="7969622" y="873383"/>
                </a:lnTo>
                <a:lnTo>
                  <a:pt x="0" y="8733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>
          <a:xfrm>
            <a:off x="9797862" y="6070058"/>
            <a:ext cx="7731820" cy="2429706"/>
          </a:xfrm>
          <a:custGeom>
            <a:avLst/>
            <a:gdLst/>
            <a:ahLst/>
            <a:cxnLst/>
            <a:rect l="l" t="t" r="r" b="b"/>
            <a:pathLst>
              <a:path w="7731820" h="2429706">
                <a:moveTo>
                  <a:pt x="0" y="0"/>
                </a:moveTo>
                <a:lnTo>
                  <a:pt x="7731820" y="0"/>
                </a:lnTo>
                <a:lnTo>
                  <a:pt x="7731820" y="2429707"/>
                </a:lnTo>
                <a:lnTo>
                  <a:pt x="0" y="24297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Box 12"/>
          <p:cNvSpPr txBox="1"/>
          <p:nvPr/>
        </p:nvSpPr>
        <p:spPr>
          <a:xfrm>
            <a:off x="3481201" y="1214679"/>
            <a:ext cx="11762599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15"/>
              </a:lnSpc>
            </a:pPr>
            <a:r>
              <a:rPr lang="en-US" sz="62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ALGORITMOS, VALIDADOERES OU INTEGRAÇÕES ESPECIAIS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6690" y="3631527"/>
            <a:ext cx="6787236" cy="2743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Validação da matrícula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Remove caracteres inválidos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Garante 6 dígitos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Reformatada automaticamente para AA-00-AA</a:t>
            </a:r>
          </a:p>
          <a:p>
            <a:pPr algn="just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626558" y="3723014"/>
            <a:ext cx="8297889" cy="182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Prevenção de duplicados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Verificação na BD antes de inserir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 de prepared statements para segurança</a:t>
            </a:r>
          </a:p>
          <a:p>
            <a:pPr algn="just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5981" y="8824517"/>
            <a:ext cx="10011099" cy="1474362"/>
          </a:xfrm>
          <a:custGeom>
            <a:avLst/>
            <a:gdLst/>
            <a:ahLst/>
            <a:cxnLst/>
            <a:rect l="l" t="t" r="r" b="b"/>
            <a:pathLst>
              <a:path w="10011099" h="1474362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7197" y="3793053"/>
            <a:ext cx="4117779" cy="5016205"/>
            <a:chOff x="0" y="0"/>
            <a:chExt cx="1023582" cy="12469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3582" cy="1246909"/>
            </a:xfrm>
            <a:custGeom>
              <a:avLst/>
              <a:gdLst/>
              <a:ahLst/>
              <a:cxnLst/>
              <a:rect l="l" t="t" r="r" b="b"/>
              <a:pathLst>
                <a:path w="1023582" h="1246909">
                  <a:moveTo>
                    <a:pt x="0" y="0"/>
                  </a:moveTo>
                  <a:lnTo>
                    <a:pt x="1023582" y="0"/>
                  </a:lnTo>
                  <a:lnTo>
                    <a:pt x="1023582" y="1246909"/>
                  </a:lnTo>
                  <a:lnTo>
                    <a:pt x="0" y="1246909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23582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84173" y="3793053"/>
            <a:ext cx="3991169" cy="5016205"/>
            <a:chOff x="0" y="0"/>
            <a:chExt cx="992109" cy="12469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2109" cy="1246909"/>
            </a:xfrm>
            <a:custGeom>
              <a:avLst/>
              <a:gdLst/>
              <a:ahLst/>
              <a:cxnLst/>
              <a:rect l="l" t="t" r="r" b="b"/>
              <a:pathLst>
                <a:path w="992109" h="1246909">
                  <a:moveTo>
                    <a:pt x="0" y="0"/>
                  </a:moveTo>
                  <a:lnTo>
                    <a:pt x="992109" y="0"/>
                  </a:lnTo>
                  <a:lnTo>
                    <a:pt x="992109" y="1246909"/>
                  </a:lnTo>
                  <a:lnTo>
                    <a:pt x="0" y="1246909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92109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03967" y="3793053"/>
            <a:ext cx="3943690" cy="5016205"/>
            <a:chOff x="0" y="0"/>
            <a:chExt cx="980307" cy="12469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80307" cy="1246909"/>
            </a:xfrm>
            <a:custGeom>
              <a:avLst/>
              <a:gdLst/>
              <a:ahLst/>
              <a:cxnLst/>
              <a:rect l="l" t="t" r="r" b="b"/>
              <a:pathLst>
                <a:path w="980307" h="1246909">
                  <a:moveTo>
                    <a:pt x="0" y="0"/>
                  </a:moveTo>
                  <a:lnTo>
                    <a:pt x="980307" y="0"/>
                  </a:lnTo>
                  <a:lnTo>
                    <a:pt x="980307" y="1246909"/>
                  </a:lnTo>
                  <a:lnTo>
                    <a:pt x="0" y="1246909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80307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76282" y="3793053"/>
            <a:ext cx="3943690" cy="5016205"/>
            <a:chOff x="0" y="0"/>
            <a:chExt cx="980307" cy="12469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0307" cy="1246909"/>
            </a:xfrm>
            <a:custGeom>
              <a:avLst/>
              <a:gdLst/>
              <a:ahLst/>
              <a:cxnLst/>
              <a:rect l="l" t="t" r="r" b="b"/>
              <a:pathLst>
                <a:path w="980307" h="1246909">
                  <a:moveTo>
                    <a:pt x="0" y="0"/>
                  </a:moveTo>
                  <a:lnTo>
                    <a:pt x="980307" y="0"/>
                  </a:lnTo>
                  <a:lnTo>
                    <a:pt x="980307" y="1246909"/>
                  </a:lnTo>
                  <a:lnTo>
                    <a:pt x="0" y="1246909"/>
                  </a:lnTo>
                  <a:close/>
                </a:path>
              </a:pathLst>
            </a:custGeom>
            <a:gradFill rotWithShape="1">
              <a:gsLst>
                <a:gs pos="0">
                  <a:srgbClr val="001860">
                    <a:alpha val="90000"/>
                  </a:srgbClr>
                </a:gs>
                <a:gs pos="100000">
                  <a:srgbClr val="019CD6">
                    <a:alpha val="9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80307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005461" y="5573371"/>
            <a:ext cx="3748592" cy="2675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Difícil garantir contagem correta quando existem entradas e saídas rápidas;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Solução: cálculo dinâmico via SQL (entradas - saídas).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691734" y="9504548"/>
            <a:ext cx="8904533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CTeSP em Programação Web, Dispositivos e Aplicações Móveis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575433" y="468355"/>
            <a:ext cx="175959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 Web IoT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1912" y="5121458"/>
            <a:ext cx="3988350" cy="357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4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Dificuldade em enviar pedidos HTTP consistentes;</a:t>
            </a:r>
          </a:p>
          <a:p>
            <a:pPr algn="l">
              <a:lnSpc>
                <a:spcPts val="98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4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Problema: Falha HTTP (-1) devido a instabilidade na alimentação do servo;</a:t>
            </a:r>
          </a:p>
          <a:p>
            <a:pPr algn="l">
              <a:lnSpc>
                <a:spcPts val="98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4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Solução: mudança do pin 13 para o 14 e alimentação estável com pedidos POST passaram a ser enviados corretamente.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27792" y="5573371"/>
            <a:ext cx="3701113" cy="2675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Matrículas em vários formatos; necessidade de limpeza e reconstrução automática;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Prevenção de duplicados na BD.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733432" y="5573371"/>
            <a:ext cx="3792096" cy="2342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Necessidade de adaptação para computador e telemóvel;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5" lvl="1" indent="-205107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 de CSS e JavaScript para menus, gráficos, etc.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22038" y="4150941"/>
            <a:ext cx="3578775" cy="67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Comunicação ESP32 Servidor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18265" y="4150941"/>
            <a:ext cx="3122984" cy="99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Consistência da lotação dos parques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16856" y="4150941"/>
            <a:ext cx="3122984" cy="67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Validação rigorosa de dados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85857" y="4150941"/>
            <a:ext cx="3122984" cy="67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2860" spc="-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Interface Web Responsiva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45328" y="885825"/>
            <a:ext cx="8597345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7362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PRINCIPAIS DESAFIO TECNICOS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833290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290" cy="1593725"/>
            </a:xfrm>
            <a:custGeom>
              <a:avLst/>
              <a:gdLst/>
              <a:ahLst/>
              <a:cxnLst/>
              <a:rect l="l" t="t" r="r" b="b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E0FF">
                    <a:alpha val="55000"/>
                  </a:srgbClr>
                </a:gs>
                <a:gs pos="100000">
                  <a:srgbClr val="1E53A0">
                    <a:alpha val="55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9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15255366" y="2293091"/>
            <a:ext cx="4114800" cy="680812"/>
          </a:xfrm>
          <a:custGeom>
            <a:avLst/>
            <a:gdLst/>
            <a:ahLst/>
            <a:cxnLst/>
            <a:rect l="l" t="t" r="r" b="b"/>
            <a:pathLst>
              <a:path w="4114800" h="680812">
                <a:moveTo>
                  <a:pt x="4114800" y="0"/>
                </a:moveTo>
                <a:lnTo>
                  <a:pt x="0" y="0"/>
                </a:lnTo>
                <a:lnTo>
                  <a:pt x="0" y="680813"/>
                </a:lnTo>
                <a:lnTo>
                  <a:pt x="4114800" y="680813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-548267" y="8082674"/>
            <a:ext cx="4114800" cy="680812"/>
          </a:xfrm>
          <a:custGeom>
            <a:avLst/>
            <a:gdLst/>
            <a:ahLst/>
            <a:cxnLst/>
            <a:rect l="l" t="t" r="r" b="b"/>
            <a:pathLst>
              <a:path w="4114800" h="680812">
                <a:moveTo>
                  <a:pt x="0" y="0"/>
                </a:moveTo>
                <a:lnTo>
                  <a:pt x="4114800" y="0"/>
                </a:lnTo>
                <a:lnTo>
                  <a:pt x="4114800" y="680812"/>
                </a:lnTo>
                <a:lnTo>
                  <a:pt x="0" y="68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9" name="Group 9"/>
          <p:cNvGrpSpPr/>
          <p:nvPr/>
        </p:nvGrpSpPr>
        <p:grpSpPr>
          <a:xfrm>
            <a:off x="16819036" y="9264565"/>
            <a:ext cx="880529" cy="594300"/>
            <a:chOff x="0" y="0"/>
            <a:chExt cx="1174038" cy="7924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174038" cy="792400"/>
              <a:chOff x="0" y="0"/>
              <a:chExt cx="221086" cy="14921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21086" cy="149219"/>
              </a:xfrm>
              <a:custGeom>
                <a:avLst/>
                <a:gdLst/>
                <a:ahLst/>
                <a:cxnLst/>
                <a:rect l="l" t="t" r="r" b="b"/>
                <a:pathLst>
                  <a:path w="221086" h="149219">
                    <a:moveTo>
                      <a:pt x="74609" y="0"/>
                    </a:moveTo>
                    <a:lnTo>
                      <a:pt x="146477" y="0"/>
                    </a:lnTo>
                    <a:cubicBezTo>
                      <a:pt x="166264" y="0"/>
                      <a:pt x="185241" y="7861"/>
                      <a:pt x="199233" y="21853"/>
                    </a:cubicBezTo>
                    <a:cubicBezTo>
                      <a:pt x="213225" y="35845"/>
                      <a:pt x="221086" y="54822"/>
                      <a:pt x="221086" y="74609"/>
                    </a:cubicBezTo>
                    <a:lnTo>
                      <a:pt x="221086" y="74609"/>
                    </a:lnTo>
                    <a:cubicBezTo>
                      <a:pt x="221086" y="94397"/>
                      <a:pt x="213225" y="113374"/>
                      <a:pt x="199233" y="127366"/>
                    </a:cubicBezTo>
                    <a:cubicBezTo>
                      <a:pt x="185241" y="141358"/>
                      <a:pt x="166264" y="149219"/>
                      <a:pt x="146477" y="149219"/>
                    </a:cubicBezTo>
                    <a:lnTo>
                      <a:pt x="74609" y="149219"/>
                    </a:lnTo>
                    <a:cubicBezTo>
                      <a:pt x="54822" y="149219"/>
                      <a:pt x="35845" y="141358"/>
                      <a:pt x="21853" y="127366"/>
                    </a:cubicBezTo>
                    <a:cubicBezTo>
                      <a:pt x="7861" y="113374"/>
                      <a:pt x="0" y="94397"/>
                      <a:pt x="0" y="74609"/>
                    </a:cubicBezTo>
                    <a:lnTo>
                      <a:pt x="0" y="74609"/>
                    </a:lnTo>
                    <a:cubicBezTo>
                      <a:pt x="0" y="54822"/>
                      <a:pt x="7861" y="35845"/>
                      <a:pt x="21853" y="21853"/>
                    </a:cubicBezTo>
                    <a:cubicBezTo>
                      <a:pt x="35845" y="7861"/>
                      <a:pt x="54822" y="0"/>
                      <a:pt x="74609" y="0"/>
                    </a:cubicBez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57150"/>
                <a:ext cx="221086" cy="2063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293622" y="128123"/>
              <a:ext cx="586795" cy="47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spcBef>
                  <a:spcPct val="0"/>
                </a:spcBef>
              </a:pPr>
              <a:r>
                <a:rPr lang="en-US" sz="2097" b="1" spc="4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17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467197" y="525505"/>
            <a:ext cx="2682372" cy="1006391"/>
          </a:xfrm>
          <a:custGeom>
            <a:avLst/>
            <a:gdLst/>
            <a:ahLst/>
            <a:cxnLst/>
            <a:rect l="l" t="t" r="r" b="b"/>
            <a:pathLst>
              <a:path w="2682372" h="1006391">
                <a:moveTo>
                  <a:pt x="0" y="0"/>
                </a:moveTo>
                <a:lnTo>
                  <a:pt x="2682372" y="0"/>
                </a:lnTo>
                <a:lnTo>
                  <a:pt x="2682372" y="1006390"/>
                </a:lnTo>
                <a:lnTo>
                  <a:pt x="0" y="1006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TextBox 15"/>
          <p:cNvSpPr txBox="1"/>
          <p:nvPr/>
        </p:nvSpPr>
        <p:spPr>
          <a:xfrm>
            <a:off x="5231266" y="9114155"/>
            <a:ext cx="8904533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Rodrigo Belchior, 2025159599 | Ricardo Almeida, 2025151617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Rodrigo Firinca, 2025131577 | Matheus Santana, 2025130281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032634" y="4914900"/>
            <a:ext cx="12222732" cy="206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79"/>
              </a:lnSpc>
            </a:pPr>
            <a:r>
              <a:rPr lang="en-US" sz="11899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EASY PARK</a:t>
            </a:r>
          </a:p>
        </p:txBody>
      </p:sp>
      <p:sp>
        <p:nvSpPr>
          <p:cNvPr id="17" name="Freeform 17"/>
          <p:cNvSpPr/>
          <p:nvPr/>
        </p:nvSpPr>
        <p:spPr>
          <a:xfrm>
            <a:off x="7441806" y="1889867"/>
            <a:ext cx="3404389" cy="3002052"/>
          </a:xfrm>
          <a:custGeom>
            <a:avLst/>
            <a:gdLst/>
            <a:ahLst/>
            <a:cxnLst/>
            <a:rect l="l" t="t" r="r" b="b"/>
            <a:pathLst>
              <a:path w="3404389" h="3002052">
                <a:moveTo>
                  <a:pt x="0" y="0"/>
                </a:moveTo>
                <a:lnTo>
                  <a:pt x="3404388" y="0"/>
                </a:lnTo>
                <a:lnTo>
                  <a:pt x="3404388" y="3002052"/>
                </a:lnTo>
                <a:lnTo>
                  <a:pt x="0" y="30020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8" name="TextBox 18"/>
          <p:cNvSpPr txBox="1"/>
          <p:nvPr/>
        </p:nvSpPr>
        <p:spPr>
          <a:xfrm>
            <a:off x="3701250" y="6881666"/>
            <a:ext cx="10885500" cy="86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1"/>
              </a:lnSpc>
            </a:pPr>
            <a:r>
              <a:rPr lang="en-US" sz="4951" b="1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PROJETO WEB IOT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859</Words>
  <Application>Microsoft Office PowerPoint</Application>
  <PresentationFormat>Personalizados</PresentationFormat>
  <Paragraphs>186</Paragraphs>
  <Slides>17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23" baseType="lpstr">
      <vt:lpstr>Poppins Bold</vt:lpstr>
      <vt:lpstr>Calibri</vt:lpstr>
      <vt:lpstr>Neo Sans Bold</vt:lpstr>
      <vt:lpstr>Arial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 Park</dc:title>
  <cp:lastModifiedBy>Rodrigo Tavares Belchior</cp:lastModifiedBy>
  <cp:revision>2</cp:revision>
  <dcterms:created xsi:type="dcterms:W3CDTF">2006-08-16T00:00:00Z</dcterms:created>
  <dcterms:modified xsi:type="dcterms:W3CDTF">2025-12-13T22:33:01Z</dcterms:modified>
  <dc:identifier>DAG2gjHiodc</dc:identifier>
</cp:coreProperties>
</file>